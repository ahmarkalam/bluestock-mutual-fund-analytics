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itter SemiBold"/>
      <p:regular r:id="rId201314"/>
    </p:embeddedFont>
    <p:embeddedFont>
      <p:font typeface="Bitter Thin"/>
      <p:regular r:id="rId201315"/>
    </p:embeddedFont>
    <p:embeddedFont>
      <p:font typeface="Bitter ExtraLight"/>
      <p:regular r:id="rId201316"/>
    </p:embeddedFont>
    <p:embeddedFont>
      <p:font typeface="Bitter Light"/>
      <p:regular r:id="rId201317"/>
    </p:embeddedFont>
    <p:embeddedFont>
      <p:font typeface="Bitter"/>
      <p:regular r:id="rId201318"/>
    </p:embeddedFont>
    <p:embeddedFont>
      <p:font typeface="Bitter Medium"/>
      <p:regular r:id="rId201319"/>
    </p:embeddedFont>
    <p:embeddedFont>
      <p:font typeface="Bitter Bold"/>
      <p:regular r:id="rId201320"/>
    </p:embeddedFont>
    <p:embeddedFont>
      <p:font typeface="Bitter ExtraBold"/>
      <p:regular r:id="rId201321"/>
    </p:embeddedFont>
    <p:embeddedFont>
      <p:font typeface="Bitter Black"/>
      <p:regular r:id="rId201322"/>
    </p:embeddedFont>
    <p:embeddedFont>
      <p:font typeface="Open Sans Light"/>
      <p:regular r:id="rId201323"/>
    </p:embeddedFont>
    <p:embeddedFont>
      <p:font typeface="Open Sans Bold"/>
      <p:regular r:id="rId201324"/>
    </p:embeddedFont>
    <p:embeddedFont>
      <p:font typeface="Open Sans"/>
      <p:regular r:id="rId201325"/>
    </p:embeddedFont>
    <p:embeddedFont>
      <p:font typeface="Open Sans Medium"/>
      <p:regular r:id="rId201326"/>
    </p:embeddedFont>
    <p:embeddedFont>
      <p:font typeface="Open Sans SemiBold"/>
      <p:regular r:id="rId201327"/>
    </p:embeddedFont>
    <p:embeddedFont>
      <p:font typeface="Open Sans ExtraBold"/>
      <p:regular r:id="rId2013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7.png"/><Relationship Id="rId10" Type="http://schemas.openxmlformats.org/officeDocument/2006/relationships/image" Target="../media/image-3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Mutual Fund Analytics Platform Capstone Project 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Submitted By: Ahmar Kalam · Technology Stack: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Python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SQLite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Power BI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Financial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0029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55887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Investors require a robust, data-driven platform to evaluate mutual funds across performance, risk, and behavior. This capstone constructs an end-to-end analytics solution to support fund selection, monitoring, and recommendation based on historical performance and market trends.  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149426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FCE2C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77" y="3350196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5816" y="3326606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Goal: Turn disparate mutual fund data into actionable, auditable insights for portfolio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375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System Architecture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86222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End-to-end pipeline that ingests raw mutual fund sources, transforms data, stores it for analytics, and surfaces insights via dashboards and models.   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53332"/>
            <a:ext cx="2631430" cy="14050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0759" y="1754684"/>
            <a:ext cx="162074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50230" y="2193727"/>
            <a:ext cx="23232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Raw Mutual Fund Data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0230" y="2482081"/>
            <a:ext cx="23232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Price histories, transactions, holdings, and benchmarks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6285" y="1653332"/>
            <a:ext cx="2631430" cy="14050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90926" y="1754684"/>
            <a:ext cx="162074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410396" y="2193727"/>
            <a:ext cx="23232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Python ETL Pipeline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10396" y="2482081"/>
            <a:ext cx="23232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Extraction, normalization, validation, and enrichment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6451" y="1653332"/>
            <a:ext cx="2631430" cy="14050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51092" y="1754684"/>
            <a:ext cx="162074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170563" y="2193727"/>
            <a:ext cx="23232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70563" y="2482081"/>
            <a:ext cx="23232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Normalized schema for NAV, transactions, and metadata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87154"/>
            <a:ext cx="4011513" cy="11939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420801" y="3288506"/>
            <a:ext cx="162074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50230" y="3727549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Analytics Engine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50230" y="4015904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queries, financial computations, cohort analytics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6368" y="3187154"/>
            <a:ext cx="4011513" cy="119397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61051" y="3288506"/>
            <a:ext cx="162074" cy="202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4790480" y="3727549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790480" y="4015904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visualizations, slicers, and KPI reports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496119" y="4526012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Flow summary: Raw Mutual Fund Data ↓ Python ETL Pipeline ↓ SQLite Database ↓ Analytics Engine ↓ Power BI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035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85478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Primary datasets ingested and integrated:   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1578"/>
            <a:ext cx="557064" cy="3442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8931" y="1431578"/>
            <a:ext cx="1208261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Fund Master Data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08931" y="1921669"/>
            <a:ext cx="1208261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Identifiers, fund house, category, inception date, expense ratios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941" y="1431578"/>
            <a:ext cx="557064" cy="3442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85753" y="1431578"/>
            <a:ext cx="120833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NAV History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85753" y="1713979"/>
            <a:ext cx="120833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 NAV series used for returns and volatility calculations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837" y="1431578"/>
            <a:ext cx="557064" cy="3442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62649" y="1431578"/>
            <a:ext cx="1208336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Investor Transactions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362649" y="1921669"/>
            <a:ext cx="120833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Systematic and lump-sum flows for cohort and SIP analysis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734" y="1431578"/>
            <a:ext cx="557064" cy="3442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9546" y="1431578"/>
            <a:ext cx="1208336" cy="623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Scheme Performance &amp; AUM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439546" y="2129358"/>
            <a:ext cx="1208336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Assets under management, category inflows, and allocation snapshots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408387"/>
            <a:ext cx="557064" cy="34423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8931" y="3408387"/>
            <a:ext cx="1208261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Benchmark Indices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208931" y="3898478"/>
            <a:ext cx="1208261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Reference series for alpha/beta and benchmark-relative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05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Engineering Pipeline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6056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Implemented in Python (Pandas) with modular ETL jobs and transactionally-consistent SQLite loads.   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42679"/>
            <a:ext cx="3478039" cy="19708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24796" y="1688604"/>
            <a:ext cx="43277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Operations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324796" y="2051819"/>
            <a:ext cx="432777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 parsing &amp; timezone normalization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NAV handling: forward-fill + business-day interpolation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Duplicate removal &amp; referential integrity checks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data validation and exception reporting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Batch loads into SQLite with indexed tables for analytics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24796" y="3770412"/>
            <a:ext cx="4327773" cy="779562"/>
          </a:xfrm>
          <a:prstGeom prst="roundRect">
            <a:avLst>
              <a:gd name="adj" fmla="val 7638"/>
            </a:avLst>
          </a:prstGeom>
          <a:solidFill>
            <a:srgbClr val="FCE2C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555" y="3990231"/>
            <a:ext cx="177180" cy="1417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85494" y="3933379"/>
            <a:ext cx="37253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Processing cadence: nightly incremental loads + weekly full reconciliation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Exploratory Data Analysis (EDA)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Visual and statistical exploration to surface patterns, seasonality, and anomalies.   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76115"/>
            <a:ext cx="3989412" cy="226062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32" y="846832"/>
            <a:ext cx="3989412" cy="531919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96119" y="6283300"/>
            <a:ext cx="35421" cy="35421"/>
          </a:xfrm>
          <a:prstGeom prst="ellipse">
            <a:avLst/>
          </a:prstGeom>
          <a:solidFill>
            <a:srgbClr val="D2600F"/>
          </a:solidFill>
          <a:ln/>
        </p:spPr>
      </p:sp>
      <p:sp>
        <p:nvSpPr>
          <p:cNvPr id="7" name="Text 3"/>
          <p:cNvSpPr/>
          <p:nvPr/>
        </p:nvSpPr>
        <p:spPr>
          <a:xfrm>
            <a:off x="566961" y="6245647"/>
            <a:ext cx="808092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Insights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566961" y="6377583"/>
            <a:ext cx="8080921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SIP inflows exhibited steady, month-on-month growth across equity funds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 rose materially for top AMCs after market rebounds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Equity categories attracted disproportionate inflows vs debt during the period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742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Fund Performance Metrics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1392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Implemented a standard suite of performance measures for comparable evaluation and scoring.  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00213"/>
            <a:ext cx="1931566" cy="1501453"/>
          </a:xfrm>
          <a:prstGeom prst="roundRect">
            <a:avLst>
              <a:gd name="adj" fmla="val 3966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1846734"/>
            <a:ext cx="16385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CAGR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153245"/>
            <a:ext cx="16385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Annualized return over multiple horizons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9443" y="1700213"/>
            <a:ext cx="1931640" cy="1501453"/>
          </a:xfrm>
          <a:prstGeom prst="roundRect">
            <a:avLst>
              <a:gd name="adj" fmla="val 3966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15964" y="1846734"/>
            <a:ext cx="16385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Sharpe &amp; Sortino Ratios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15964" y="2374702"/>
            <a:ext cx="163859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Risk-adjusted returns using volatility and downside deviation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2842" y="1700213"/>
            <a:ext cx="1931640" cy="1501453"/>
          </a:xfrm>
          <a:prstGeom prst="roundRect">
            <a:avLst>
              <a:gd name="adj" fmla="val 3966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9363" y="1846734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Alpha &amp; Beta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89363" y="2153245"/>
            <a:ext cx="163859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Benchmark-relative performance and systematic risk exposure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16241" y="1700213"/>
            <a:ext cx="1931640" cy="1501453"/>
          </a:xfrm>
          <a:prstGeom prst="roundRect">
            <a:avLst>
              <a:gd name="adj" fmla="val 3966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763" y="1846734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Max Drawdown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62763" y="2153245"/>
            <a:ext cx="163859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Peak-to-trough loss used for stress assessment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343424"/>
            <a:ext cx="8151763" cy="826368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40" y="3489945"/>
            <a:ext cx="7858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Fund Scorecard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2640" y="3796457"/>
            <a:ext cx="7858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Composite ranking combining performance, risk, and flow metrics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119" y="432926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Visualization: benchmark comparison chart included in dashboard to contextualize metrics (screenshot captured).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9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Risk Analytics &amp; Recommendation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0242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Advanced models and cohort analysis power risk signals and personalized recommendations.   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88703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1888703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Historical VaR (95%)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27658" y="2195215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Empirical distribution-based tail risk estimates per fund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888703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03972" y="1888703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CVaR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803972" y="2195215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Expected shortfall for stress scenario planning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888703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0287" y="1888703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Rolling Sharpe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580287" y="2195215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Time-varying risk-adjusted performance to detect regime shifts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59175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7658" y="3159175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Investor Cohort Analysis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027658" y="3465686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Behavioral segmentation by SIP behavior, tenure, and realized returns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159175"/>
            <a:ext cx="354360" cy="3543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803972" y="3159175"/>
            <a:ext cx="20675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Recommendation Engine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803972" y="3687142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 + score-based suggestions: risk match, diversification, and momentum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03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Interactive Dashboard (Power BI)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0689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Deliverables: high-impact, interactive reports for analysts and stakeholders with drill-through and filters.   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4117" y="2084412"/>
            <a:ext cx="1701180" cy="17011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704" y="2084412"/>
            <a:ext cx="1701180" cy="17011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403629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Features: slicers, KPI tiles, time-series analysis, and exportable scorecards for evidence-based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97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2530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The project delivered an operational mutual fund analytics platform combining: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Data Engineering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SQL Analytics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Financial Modeling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Risk Analysis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Power BI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dashboard to support investment decisions.   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438400"/>
            <a:ext cx="2622724" cy="15353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59920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Impact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3127" y="2905720"/>
            <a:ext cx="22249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rigorous fund comparison, risk-aware recommendations, and operational reporting.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438400"/>
            <a:ext cx="2622724" cy="15353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7610" y="259920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Deliverables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97610" y="2905720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ETL codebase, SQLite schema, analytics notebooks, and Power BI reports.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438400"/>
            <a:ext cx="2622724" cy="15353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2092" y="259920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Recommended Next Steps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2092" y="2905720"/>
            <a:ext cx="22249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Productionize ETL, add automated backtests, integrate live market feeds, and deploy model monitoring.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2026-07-10T18:07:43Z</dcterms:created>
  <dcterms:modified xsi:type="dcterms:W3CDTF">2026-07-10T18:07:43Z</dcterms:modified>
</cp:coreProperties>
</file>